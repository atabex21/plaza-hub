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1D9E75">
              <a:alpha val="25000"/>
            </a:srgbClr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0F6E56">
              <a:alpha val="20000"/>
            </a:srgbClr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800" kern="0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BIENESTAR PARA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Veteranos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9FE1C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Puerto Rico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2697480"/>
            <a:ext cx="2743200" cy="0"/>
          </a:xfrm>
          <a:prstGeom prst="line">
            <a:avLst/>
          </a:prstGeom>
          <a:noFill/>
          <a:ln w="25400">
            <a:solidFill>
              <a:srgbClr val="9FE1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926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C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prototipo de arte · ecología · bienestar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32918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Cupey · San Juan · 2026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114800"/>
            <a:ext cx="2560320" cy="502920"/>
          </a:xfrm>
          <a:prstGeom prst="rect">
            <a:avLst/>
          </a:prstGeom>
          <a:solidFill>
            <a:srgbClr val="1D9E75">
              <a:alpha val="30000"/>
            </a:srgbClr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41148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 Cultural &amp; de Bienestar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83280" y="4114800"/>
            <a:ext cx="2560320" cy="502920"/>
          </a:xfrm>
          <a:prstGeom prst="rect">
            <a:avLst/>
          </a:prstGeom>
          <a:solidFill>
            <a:srgbClr val="D85A30">
              <a:alpha val="30000"/>
            </a:srgbClr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41148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Out PTSD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17920" y="4114800"/>
            <a:ext cx="2560320" cy="502920"/>
          </a:xfrm>
          <a:prstGeom prst="rect">
            <a:avLst/>
          </a:prstGeom>
          <a:solidFill>
            <a:srgbClr val="BA7517">
              <a:alpha val="30000"/>
            </a:srgbClr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41148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Fundación Stefano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de Alianza · Mayo 6,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reto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3474720" cy="347472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46304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9FE1C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~85,000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365760" y="246888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veteranos viven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Puerto Rico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315468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muchos con acceso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limitado a servicios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bienestar integrativo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06240" y="1097280"/>
            <a:ext cx="45720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06240" y="1097280"/>
            <a:ext cx="73152" cy="749808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34840" y="115214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Aislamiento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434840" y="1426464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transición a la vida civil rompe redes de apoyo y camaradería.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06240" y="1956816"/>
            <a:ext cx="45720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D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06240" y="1956816"/>
            <a:ext cx="73152" cy="749808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34840" y="201168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fragmentado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434840" y="22860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servicios de VA son clínicos — hay pocos programas creativos y comunitarios.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206240" y="2816352"/>
            <a:ext cx="45720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D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06240" y="2816352"/>
            <a:ext cx="73152" cy="749808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34840" y="2871216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Trauma no resuelto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434840" y="3145536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PTSD afecta familias enteras, no solo al veterano.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206240" y="3675888"/>
            <a:ext cx="45720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D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206240" y="3675888"/>
            <a:ext cx="73152" cy="749808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34840" y="373075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Brecha urbana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434840" y="400507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Pocos recursos especializados en Cupey y el área metro de San Juan.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Tres organizaciones · Una misión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2743200" cy="3749040"/>
          </a:xfrm>
          <a:prstGeom prst="rect">
            <a:avLst/>
          </a:prstGeom>
          <a:solidFill>
            <a:srgbClr val="F8F8F6"/>
          </a:solidFill>
          <a:ln w="12700">
            <a:solidFill>
              <a:srgbClr val="E8E8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51560"/>
            <a:ext cx="2743200" cy="22860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53312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Hub Cultural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A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de Bienestar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048256"/>
            <a:ext cx="2286000" cy="256032"/>
          </a:xfrm>
          <a:prstGeom prst="rect">
            <a:avLst/>
          </a:prstGeom>
          <a:solidFill>
            <a:srgbClr val="1D9E75">
              <a:alpha val="20000"/>
            </a:srgbClr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04825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Convocante &amp; facilitador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45059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buNone/>
            </a:pPr>
            <a:r>
              <a:rPr lang="en-US" sz="1100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Arte, ecología y bienestar integrado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95351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buNone/>
            </a:pPr>
            <a:r>
              <a:rPr lang="en-US" sz="1100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Instalación en Cupey para sesiones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45643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buNone/>
            </a:pPr>
            <a:r>
              <a:rPr lang="en-US" sz="1100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de practicantes y artistas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95935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buNone/>
            </a:pPr>
            <a:r>
              <a:rPr lang="en-US" sz="1100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Circuito económico sostenible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46120" y="1051560"/>
            <a:ext cx="2743200" cy="3749040"/>
          </a:xfrm>
          <a:prstGeom prst="rect">
            <a:avLst/>
          </a:prstGeom>
          <a:solidFill>
            <a:srgbClr val="F8F8F6"/>
          </a:solidFill>
          <a:ln w="12700">
            <a:solidFill>
              <a:srgbClr val="E8E8E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46120" y="1051560"/>
            <a:ext cx="2743200" cy="228600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0" y="1353312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Roll Out PTSD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383280" y="2048256"/>
            <a:ext cx="2286000" cy="256032"/>
          </a:xfrm>
          <a:prstGeom prst="rect">
            <a:avLst/>
          </a:prstGeom>
          <a:solidFill>
            <a:srgbClr val="D85A30">
              <a:alpha val="20000"/>
            </a:srgbClr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83280" y="204825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veteranos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83280" y="245059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buNone/>
            </a:pPr>
            <a:r>
              <a:rPr lang="en-US" sz="1100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501(c)(3) fundado por veterano de combate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83280" y="295351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buNone/>
            </a:pPr>
            <a:r>
              <a:rPr lang="en-US" sz="1100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directo con VA Hospital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83280" y="345643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buNone/>
            </a:pPr>
            <a:r>
              <a:rPr lang="en-US" sz="1100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de 3 fases probado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83280" y="395935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buNone/>
            </a:pPr>
            <a:r>
              <a:rPr lang="en-US" sz="1100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activa de veteranos en PR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72200" y="1051560"/>
            <a:ext cx="2743200" cy="3749040"/>
          </a:xfrm>
          <a:prstGeom prst="rect">
            <a:avLst/>
          </a:prstGeom>
          <a:solidFill>
            <a:srgbClr val="F8F8F6"/>
          </a:solidFill>
          <a:ln w="12700">
            <a:solidFill>
              <a:srgbClr val="E8E8E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72200" y="1051560"/>
            <a:ext cx="2743200" cy="22860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0" y="1353312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Fundación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A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Stefano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309360" y="2048256"/>
            <a:ext cx="2286000" cy="256032"/>
          </a:xfrm>
          <a:prstGeom prst="rect">
            <a:avLst/>
          </a:prstGeom>
          <a:solidFill>
            <a:srgbClr val="BA7517">
              <a:alpha val="20000"/>
            </a:srgbClr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09360" y="204825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 &amp; apoyo clínico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309360" y="245059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buNone/>
            </a:pPr>
            <a:r>
              <a:rPr lang="en-US" sz="1100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Instalaciones en Cupey Alto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09360" y="295351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buNone/>
            </a:pPr>
            <a:r>
              <a:rPr lang="en-US" sz="1100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de Art Therapy activo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09360" y="345643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buNone/>
            </a:pPr>
            <a:r>
              <a:rPr lang="en-US" sz="1100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 de sanación familiar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309360" y="395935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pPr indent="0" marL="0">
              <a:buNone/>
            </a:pPr>
            <a:r>
              <a:rPr lang="en-US" sz="1100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clínica y comunitaria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063240" y="2926080"/>
            <a:ext cx="457200" cy="0"/>
          </a:xfrm>
          <a:prstGeom prst="line">
            <a:avLst/>
          </a:prstGeom>
          <a:noFill/>
          <a:ln w="25400">
            <a:solidFill>
              <a:srgbClr val="0F6E5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10128" y="2788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6E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989320" y="2926080"/>
            <a:ext cx="457200" cy="0"/>
          </a:xfrm>
          <a:prstGeom prst="line">
            <a:avLst/>
          </a:prstGeom>
          <a:noFill/>
          <a:ln w="25400">
            <a:solidFill>
              <a:srgbClr val="0F6E5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36208" y="2788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6E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2286000"/>
            <a:ext cx="4572000" cy="4572000"/>
          </a:xfrm>
          <a:prstGeom prst="ellipse">
            <a:avLst/>
          </a:prstGeom>
          <a:solidFill>
            <a:srgbClr val="1D9E75">
              <a:alpha val="12000"/>
            </a:srgbClr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Prototipo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integrada de Arte · Ecología · Bienestar para Veteranos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8229600" cy="0"/>
          </a:xfrm>
          <a:prstGeom prst="line">
            <a:avLst/>
          </a:prstGeom>
          <a:noFill/>
          <a:ln w="12700">
            <a:solidFill>
              <a:srgbClr val="2A4A6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08760"/>
            <a:ext cx="8046720" cy="713232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08760"/>
            <a:ext cx="73152" cy="71323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5819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88720" y="156362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 Terapéutico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0" y="1563624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88720" y="1856232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Expresión creativa guiada — pintura, collage o escritura. Canalizar la experiencia del trauma hacia formas que liberan y sanan.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350008"/>
            <a:ext cx="8046720" cy="713232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50008"/>
            <a:ext cx="73152" cy="713232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2423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88720" y="24048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Conexión Eco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772400" y="240487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88720" y="2697480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en contacto con naturaleza — jardinería, plantas medicinales o movimiento al aire libre en la facilidad de Cupey.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191256"/>
            <a:ext cx="8046720" cy="713232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191256"/>
            <a:ext cx="73152" cy="713232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" y="32644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88720" y="32461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Bienestar Corporal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772400" y="324612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188720" y="3538728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Movimiento suave, respiración y ajuste postural. Chair massage y auto-ajuste — herramientas que el veterano se lleva a casa.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4032504"/>
            <a:ext cx="8046720" cy="713232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4032504"/>
            <a:ext cx="73152" cy="71323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" y="410565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188720" y="40873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Círculo Comunitario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772400" y="408736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188720" y="4379976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en grupo — reflexión, gratitud y conexión entre pares. Camaradería como medicina.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Grupos de 8–12 veteranos · Facilitado por practicantes certificados · Cupey, San Juan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pipeline de participantes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0"/>
          </a:xfrm>
          <a:prstGeom prst="line">
            <a:avLst/>
          </a:prstGeom>
          <a:noFill/>
          <a:ln w="12700">
            <a:solidFill>
              <a:srgbClr val="D0D0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05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llegan los veteranos al programa: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201168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D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463040"/>
            <a:ext cx="2011680" cy="201168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" y="1783080"/>
            <a:ext cx="640080" cy="640080"/>
          </a:xfrm>
          <a:prstGeom prst="ellipse">
            <a:avLst/>
          </a:prstGeom>
          <a:solidFill>
            <a:srgbClr val="1A2E4A">
              <a:alpha val="15000"/>
            </a:srgbClr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E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2560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 Hospital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5488" y="2999232"/>
            <a:ext cx="18105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Veterano busca apoyo clínico en el sistema VA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395728" y="2971800"/>
            <a:ext cx="365760" cy="0"/>
          </a:xfrm>
          <a:prstGeom prst="line">
            <a:avLst/>
          </a:prstGeom>
          <a:noFill/>
          <a:ln w="25400">
            <a:solidFill>
              <a:srgbClr val="0F6E5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06040" y="283464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423160" y="1463040"/>
            <a:ext cx="201168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423160" y="1463040"/>
            <a:ext cx="2011680" cy="201168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108960" y="1783080"/>
            <a:ext cx="640080" cy="640080"/>
          </a:xfrm>
          <a:prstGeom prst="ellipse">
            <a:avLst/>
          </a:prstGeom>
          <a:solidFill>
            <a:srgbClr val="D85A30">
              <a:alpha val="15000"/>
            </a:srgbClr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0896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85A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514600" y="2560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Out PTSD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532888" y="2999232"/>
            <a:ext cx="18105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1: conecta veterano a recursos y servicios. Identifica candidatos para el programa complementario.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453128" y="2971800"/>
            <a:ext cx="365760" cy="0"/>
          </a:xfrm>
          <a:prstGeom prst="line">
            <a:avLst/>
          </a:prstGeom>
          <a:noFill/>
          <a:ln w="25400">
            <a:solidFill>
              <a:srgbClr val="0F6E5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283464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480560" y="1463040"/>
            <a:ext cx="201168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D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80560" y="1463040"/>
            <a:ext cx="2011680" cy="20116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166360" y="1783080"/>
            <a:ext cx="640080" cy="640080"/>
          </a:xfrm>
          <a:prstGeom prst="ellipse">
            <a:avLst/>
          </a:prstGeom>
          <a:solidFill>
            <a:srgbClr val="1D9E75">
              <a:alpha val="15000"/>
            </a:srgbClr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6636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9E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572000" y="2560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Cupey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90288" y="2999232"/>
            <a:ext cx="18105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 · Eco · Bienestar en la facilidad de Fundación Stefano — experiencia integrativa de 1.5–2 hrs.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510528" y="2971800"/>
            <a:ext cx="365760" cy="0"/>
          </a:xfrm>
          <a:prstGeom prst="line">
            <a:avLst/>
          </a:prstGeom>
          <a:noFill/>
          <a:ln w="25400">
            <a:solidFill>
              <a:srgbClr val="0F6E5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20840" y="283464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537960" y="1463040"/>
            <a:ext cx="201168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D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537960" y="1463040"/>
            <a:ext cx="2011680" cy="201168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223760" y="1783080"/>
            <a:ext cx="640080" cy="640080"/>
          </a:xfrm>
          <a:prstGeom prst="ellipse">
            <a:avLst/>
          </a:prstGeom>
          <a:solidFill>
            <a:srgbClr val="BA7517">
              <a:alpha val="15000"/>
            </a:srgbClr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22376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A75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629400" y="2560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Comunidad Hub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647688" y="2999232"/>
            <a:ext cx="18105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veterano se integra a la red del hub — programa continuo, voluntariado, red de pares.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65760" y="46634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Out PTSD es el puente entre el sistema VA y la experiencia de bienestar integrativo.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914400"/>
            <a:ext cx="5029200" cy="5029200"/>
          </a:xfrm>
          <a:prstGeom prst="ellipse">
            <a:avLst/>
          </a:prstGeom>
          <a:solidFill>
            <a:srgbClr val="1D9E75">
              <a:alpha val="12000"/>
            </a:srgbClr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474720"/>
            <a:ext cx="3200400" cy="3200400"/>
          </a:xfrm>
          <a:prstGeom prst="ellipse">
            <a:avLst/>
          </a:prstGeom>
          <a:solidFill>
            <a:srgbClr val="0F6E56">
              <a:alpha val="15000"/>
            </a:srgbClr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 que le pedimos a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Fundación Stefano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3200400" cy="0"/>
          </a:xfrm>
          <a:prstGeom prst="line">
            <a:avLst/>
          </a:prstGeom>
          <a:noFill/>
          <a:ln w="25400">
            <a:solidFill>
              <a:srgbClr val="9FE1C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011680"/>
            <a:ext cx="548640" cy="548640"/>
          </a:xfrm>
          <a:prstGeom prst="ellipse">
            <a:avLst/>
          </a:prstGeom>
          <a:solidFill>
            <a:srgbClr val="9FE1CB">
              <a:alpha val="80000"/>
            </a:srgbClr>
          </a:solidFill>
          <a:ln w="12700">
            <a:solidFill>
              <a:srgbClr val="9FE1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◉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88720" y="2048256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Facilidad en Cupey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8720" y="2359152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C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Espacio para sesiones grupales de 8–12 veteranos — sala, área verde o patio para el componente eco.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971800"/>
            <a:ext cx="548640" cy="548640"/>
          </a:xfrm>
          <a:prstGeom prst="ellipse">
            <a:avLst/>
          </a:prstGeom>
          <a:solidFill>
            <a:srgbClr val="D85A30">
              <a:alpha val="80000"/>
            </a:srgbClr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971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88720" y="3008376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Apoyo clínico &amp; red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88720" y="3319272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C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Referidos de familias y veteranos a través de su red. Presencia de un practicante de Art Therapy en el piloto.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931920"/>
            <a:ext cx="548640" cy="548640"/>
          </a:xfrm>
          <a:prstGeom prst="ellipse">
            <a:avLst/>
          </a:prstGeom>
          <a:solidFill>
            <a:srgbClr val="BA7517">
              <a:alpha val="80000"/>
            </a:srgbClr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931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88720" y="3968496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Co-patrocinio del piloto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88720" y="4279392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C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Apoyo financiero para honorarios de practicantes y materiales — Jun a Sep 2026.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cambio: co-autoría del modelo, visibilidad en el hub y red de aliados, e impacto medible en Cupey.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Impacto &amp; cronograma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1920240" cy="1417320"/>
          </a:xfrm>
          <a:prstGeom prst="rect">
            <a:avLst/>
          </a:prstGeom>
          <a:solidFill>
            <a:srgbClr val="F4FAF7"/>
          </a:solidFill>
          <a:ln w="12700">
            <a:solidFill>
              <a:srgbClr val="D0ED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97280"/>
            <a:ext cx="1920240" cy="10972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61872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D9E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30–40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65760" y="1883664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veteranos en el piloto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Jun–Sep 2026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14600" y="1097280"/>
            <a:ext cx="1920240" cy="1417320"/>
          </a:xfrm>
          <a:prstGeom prst="rect">
            <a:avLst/>
          </a:prstGeom>
          <a:solidFill>
            <a:srgbClr val="F4FAF7"/>
          </a:solidFill>
          <a:ln w="12700">
            <a:solidFill>
              <a:srgbClr val="D0ED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14600" y="1097280"/>
            <a:ext cx="1920240" cy="10972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14600" y="1261872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D9E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2514600" y="1883664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sesiones prototipo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por mes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1097280"/>
            <a:ext cx="1920240" cy="1417320"/>
          </a:xfrm>
          <a:prstGeom prst="rect">
            <a:avLst/>
          </a:prstGeom>
          <a:solidFill>
            <a:srgbClr val="F4FAF7"/>
          </a:solidFill>
          <a:ln w="12700">
            <a:solidFill>
              <a:srgbClr val="D0ED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1097280"/>
            <a:ext cx="1920240" cy="10972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1261872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D9E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4663440" y="1883664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organizaciones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alineadas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812280" y="1097280"/>
            <a:ext cx="1920240" cy="1417320"/>
          </a:xfrm>
          <a:prstGeom prst="rect">
            <a:avLst/>
          </a:prstGeom>
          <a:solidFill>
            <a:srgbClr val="F4FAF7"/>
          </a:solidFill>
          <a:ln w="12700">
            <a:solidFill>
              <a:srgbClr val="D0ED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12280" y="1097280"/>
            <a:ext cx="1920240" cy="10972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12280" y="1261872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D9E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2027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6812280" y="1883664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escalable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documentado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5760" y="27249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Cronograma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65760" y="3227832"/>
            <a:ext cx="320040" cy="320040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320954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6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463040" y="3209544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Reunión con Fundación Stefano — acuerdo de alianza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3758184"/>
            <a:ext cx="320040" cy="320040"/>
          </a:xfrm>
          <a:prstGeom prst="ellipse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373989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21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463040" y="3739896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PTSD Day — demo chair massage + networking Roll Out PTSD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5760" y="4288536"/>
            <a:ext cx="320040" cy="320040"/>
          </a:xfrm>
          <a:prstGeom prst="ellipse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240" y="427024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31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463040" y="427024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 firmado entre los tres socios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3227832"/>
            <a:ext cx="320040" cy="320040"/>
          </a:xfrm>
          <a:prstGeom prst="ellipse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66360" y="320954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Jun–Jul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852160" y="3209544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del currículo integrado Arte · Eco · Bienestar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54880" y="3758184"/>
            <a:ext cx="320040" cy="320040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66360" y="373989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852160" y="3739896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Primera sesión prototipo con veteranos en Cupey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54880" y="4288536"/>
            <a:ext cx="320040" cy="320040"/>
          </a:xfrm>
          <a:prstGeom prst="ellipse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66360" y="427024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852160" y="427024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Evaluación, documentación y presentación del modelo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D9E7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2743200"/>
            <a:ext cx="4572000" cy="4572000"/>
          </a:xfrm>
          <a:prstGeom prst="ellipse">
            <a:avLst/>
          </a:prstGeom>
          <a:solidFill>
            <a:srgbClr val="0F6E56">
              <a:alpha val="45000"/>
            </a:srgbClr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1B8F69">
              <a:alpha val="45000"/>
            </a:srgbClr>
          </a:solidFill>
          <a:ln w="12700">
            <a:solidFill>
              <a:srgbClr val="1B8F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64008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Juntos podemos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E1F5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crear el primer programa integrado de bienestar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i="1" dirty="0">
                <a:solidFill>
                  <a:srgbClr val="E1F5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 veteranos en Cupey — y un modelo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i="1" dirty="0">
                <a:solidFill>
                  <a:srgbClr val="E1F5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 Puerto Rico puede replicar.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286000" y="2651760"/>
            <a:ext cx="4572000" cy="0"/>
          </a:xfrm>
          <a:prstGeom prst="line">
            <a:avLst/>
          </a:prstGeom>
          <a:noFill/>
          <a:ln w="25400">
            <a:solidFill>
              <a:srgbClr val="9FE1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8803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 Cultural &amp; Bienestar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80560" y="288036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1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Plaza del Mercado · San Juan, PR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3832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Out PTSD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480560" y="338328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1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michael@rolloutptsd.org · (423) 432-2487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38862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Fundación Stefano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480560" y="388620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1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Cupey Alto · info@fundacionstefano.org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4526280"/>
            <a:ext cx="7772400" cy="0"/>
          </a:xfrm>
          <a:prstGeom prst="line">
            <a:avLst/>
          </a:prstGeom>
          <a:noFill/>
          <a:ln w="12700">
            <a:solidFill>
              <a:srgbClr val="0F6E5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46634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FE1C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Wonder · Collective Magic · Caribbean Blessings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4919472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Antonio González-Walker Ph.D. / Centro AtabeX · All rights reserved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Propuesta Veteranos — Hub Cultural &amp; de Bienestar</dc:title>
  <dc:subject>PptxGenJS Presentation</dc:subject>
  <dc:creator>PptxGenJS</dc:creator>
  <cp:lastModifiedBy>PptxGenJS</cp:lastModifiedBy>
  <cp:revision>1</cp:revision>
  <dcterms:created xsi:type="dcterms:W3CDTF">2026-05-01T21:00:22Z</dcterms:created>
  <dcterms:modified xsi:type="dcterms:W3CDTF">2026-05-01T21:00:22Z</dcterms:modified>
</cp:coreProperties>
</file>